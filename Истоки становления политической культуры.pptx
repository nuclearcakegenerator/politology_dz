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Roboto"/>
      <p:regular r:id="rId19"/>
      <p:bold r:id="rId20"/>
      <p:italic r:id="rId21"/>
      <p:boldItalic r:id="rId22"/>
    </p:embeddedFont>
    <p:embeddedFont>
      <p:font typeface="Merriweather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C3E7FEC-D317-42FB-99C8-A997A97093D4}">
  <a:tblStyle styleId="{1C3E7FEC-D317-42FB-99C8-A997A97093D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Roboto-boldItalic.fntdata"/><Relationship Id="rId21" Type="http://schemas.openxmlformats.org/officeDocument/2006/relationships/font" Target="fonts/Roboto-italic.fntdata"/><Relationship Id="rId24" Type="http://schemas.openxmlformats.org/officeDocument/2006/relationships/font" Target="fonts/Merriweather-bold.fntdata"/><Relationship Id="rId23" Type="http://schemas.openxmlformats.org/officeDocument/2006/relationships/font" Target="fonts/Merriweather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Merriweather-boldItalic.fntdata"/><Relationship Id="rId25" Type="http://schemas.openxmlformats.org/officeDocument/2006/relationships/font" Target="fonts/Merriweather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Roboto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9" Type="http://schemas.openxmlformats.org/officeDocument/2006/relationships/image" Target="../media/image29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0.png"/><Relationship Id="rId6" Type="http://schemas.openxmlformats.org/officeDocument/2006/relationships/image" Target="../media/image2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6.png"/><Relationship Id="rId5" Type="http://schemas.openxmlformats.org/officeDocument/2006/relationships/image" Target="../media/image19.png"/><Relationship Id="rId6" Type="http://schemas.openxmlformats.org/officeDocument/2006/relationships/image" Target="../media/image22.png"/><Relationship Id="rId7" Type="http://schemas.openxmlformats.org/officeDocument/2006/relationships/image" Target="../media/image2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81425" y="4857601"/>
            <a:ext cx="4629150" cy="6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995862" y="1962298"/>
            <a:ext cx="22002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МГТУ ИМ. Н.Э. БАУМАНА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460545" y="2358479"/>
            <a:ext cx="7270908" cy="1279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Истоки становления 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2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 политической культуры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638675" y="3828901"/>
            <a:ext cx="29146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4AF37"/>
                </a:solidFill>
                <a:latin typeface="Roboto"/>
                <a:ea typeface="Roboto"/>
                <a:cs typeface="Roboto"/>
                <a:sym typeface="Roboto"/>
              </a:rPr>
              <a:t>Дисциплина: Политология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323550" y="5152875"/>
            <a:ext cx="2811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Выполнил студент:</a:t>
            </a:r>
            <a:r>
              <a:rPr b="0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Кузнецов М.А.,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гр. ИУ7-42Б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248400" y="5152876"/>
            <a:ext cx="216217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Проверил преподаватель:</a:t>
            </a:r>
            <a:r>
              <a:rPr b="0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Харичкин И.К.</a:t>
            </a:r>
            <a:endParaRPr/>
          </a:p>
        </p:txBody>
      </p:sp>
      <p:pic>
        <p:nvPicPr>
          <p:cNvPr id="91" name="Google Shape;91;p13" title="BMSTU_coat_of_arm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00676" y="442343"/>
            <a:ext cx="1190625" cy="13675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6" name="Google Shape;9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7" name="Google Shape;97;p14"/>
          <p:cNvGraphicFramePr/>
          <p:nvPr/>
        </p:nvGraphicFramePr>
        <p:xfrm>
          <a:off x="571500" y="20716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{1C3E7FEC-D317-42FB-99C8-A997A97093D4}</a:tableStyleId>
              </a:tblPr>
              <a:tblGrid>
                <a:gridCol w="1657350"/>
                <a:gridCol w="9391650"/>
              </a:tblGrid>
              <a:tr h="59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Раздел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Наименование главы / параграфа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088"/>
                    </a:solidFill>
                  </a:tcPr>
                </a:tc>
              </a:tr>
              <a:tr h="59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Введение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Актуальность, цель, задачи исследования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Глава 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Теоретико-методологические основы исследования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Глава 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Исторические истоки и эволюция культуры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Заключение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Основные выводы и результаты исследования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Список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E293B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Библиографический список источников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8" name="Google Shape;98;p14"/>
          <p:cNvSpPr/>
          <p:nvPr/>
        </p:nvSpPr>
        <p:spPr>
          <a:xfrm>
            <a:off x="571500" y="3248025"/>
            <a:ext cx="1657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2228850" y="3248025"/>
            <a:ext cx="9391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71500" y="3848100"/>
            <a:ext cx="1657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2228850" y="3848100"/>
            <a:ext cx="9391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571500" y="4448175"/>
            <a:ext cx="1657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2228850" y="4448175"/>
            <a:ext cx="9391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571500" y="5048250"/>
            <a:ext cx="1657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2228850" y="5048250"/>
            <a:ext cx="9391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571500" y="5648325"/>
            <a:ext cx="16573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2228850" y="5648325"/>
            <a:ext cx="93916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СОДЕРЖАНИЕ РАБОТЫ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047875"/>
            <a:ext cx="3492549" cy="3638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047875"/>
            <a:ext cx="3492549" cy="3638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047875"/>
            <a:ext cx="3492549" cy="3638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784225" y="2221600"/>
            <a:ext cx="3067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Устойчивость институтов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857300" y="2667000"/>
            <a:ext cx="2921100" cy="17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Политическая культура определяет прочность государственных структур и характер взаимодействия власти и общества.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4562524" y="2221600"/>
            <a:ext cx="3067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Глобальные вызовы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35549" y="2667000"/>
            <a:ext cx="29211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Трансформация мирового порядка требует глубокого понимания ценностных истоков политического процесса.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340724" y="2230388"/>
            <a:ext cx="3067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Российская идентичность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13749" y="2667000"/>
            <a:ext cx="29211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Необходимость сочетания национальных традиций с вызовами современной политической модернизации.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АКТУАЛЬНОСТЬ ТЕМЫ</a:t>
            </a:r>
            <a:endParaRPr/>
          </a:p>
        </p:txBody>
      </p:sp>
      <p:sp>
        <p:nvSpPr>
          <p:cNvPr id="125" name="Google Shape;125;p1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09800"/>
            <a:ext cx="53340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209800"/>
            <a:ext cx="53340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857250" y="3086100"/>
            <a:ext cx="500062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Объект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57250" y="3790950"/>
            <a:ext cx="47625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Политическая культура как социокультурное явление и ключевой элемент политической системы, определяющий ценностную основу деятельности.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572250" y="3086100"/>
            <a:ext cx="500062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Предмет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572250" y="3790950"/>
            <a:ext cx="4762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Теоретико-методологические основания, факторы и механизмы формирования политической культуры в исторической ретроспективе.</a:t>
            </a:r>
            <a:endParaRPr/>
          </a:p>
        </p:txBody>
      </p:sp>
      <p:pic>
        <p:nvPicPr>
          <p:cNvPr descr="image.png" id="137" name="Google Shape;13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51460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72250" y="25146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6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ОБЪЕКТ И ПРЕДМЕТ ИССЛЕДОВАНИЯ</a:t>
            </a:r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5" name="Google Shape;14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439566"/>
            <a:ext cx="1981200" cy="163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38450" y="3439566"/>
            <a:ext cx="1981200" cy="163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5400" y="3439566"/>
            <a:ext cx="1981200" cy="163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72350" y="3439566"/>
            <a:ext cx="1981200" cy="163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39300" y="3439566"/>
            <a:ext cx="1981200" cy="1636216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 txBox="1"/>
          <p:nvPr/>
        </p:nvSpPr>
        <p:spPr>
          <a:xfrm>
            <a:off x="571500" y="2849016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ЦЕЛЬ: Комплексный анализ истоков становления и специфики политической культуры.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762000" y="3630066"/>
            <a:ext cx="6572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Задача 1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762000" y="3963441"/>
            <a:ext cx="16002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Изучить понятие, структуру и функции в современной науке.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3028950" y="3630066"/>
            <a:ext cx="6572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Задача 2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3028950" y="3963441"/>
            <a:ext cx="16002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Анализ концепций Алмонда, Вербы и Хантингтона.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5295900" y="3630066"/>
            <a:ext cx="6572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Задача 3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295900" y="3963441"/>
            <a:ext cx="16002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Рассмотреть исторические истоки от Античности.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562850" y="3630066"/>
            <a:ext cx="6572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Задача 4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7562850" y="3963441"/>
            <a:ext cx="16002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Выявить институты и факторы социализации.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9829800" y="3630066"/>
            <a:ext cx="6572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5088"/>
                </a:solidFill>
                <a:latin typeface="Roboto"/>
                <a:ea typeface="Roboto"/>
                <a:cs typeface="Roboto"/>
                <a:sym typeface="Roboto"/>
              </a:rPr>
              <a:t>Задача 5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9829800" y="3963441"/>
            <a:ext cx="16002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Исследовать особенности культуры России.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ЦЕЛЬ И ЗАДАЧИ ИССЛЕДОВАНИЯ</a:t>
            </a:r>
            <a:endParaRPr/>
          </a:p>
        </p:txBody>
      </p:sp>
      <p:sp>
        <p:nvSpPr>
          <p:cNvPr id="163" name="Google Shape;163;p17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8" name="Google Shape;16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52675"/>
            <a:ext cx="3492549" cy="3028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352675"/>
            <a:ext cx="3492549" cy="3028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352675"/>
            <a:ext cx="3492549" cy="3028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857250" y="3228975"/>
            <a:ext cx="3067102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Историко-генетический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857250" y="3933825"/>
            <a:ext cx="292104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Прослеживание эволюции идей от Древней Греции до наших дней.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4635549" y="3228975"/>
            <a:ext cx="3067102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Компаративный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4635549" y="3933825"/>
            <a:ext cx="292104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Сопоставление различных моделей и типов политических систем.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8413849" y="3228975"/>
            <a:ext cx="3067102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Структурно-функциональный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413849" y="3952875"/>
            <a:ext cx="292104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Анализ элементов культуры и их роли в поддержании устойчивости.</a:t>
            </a:r>
            <a:endParaRPr/>
          </a:p>
        </p:txBody>
      </p:sp>
      <p:pic>
        <p:nvPicPr>
          <p:cNvPr descr="image.png" id="178" name="Google Shape;178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7250" y="2657475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5549" y="2657475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13849" y="2657475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8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МЕТОДЫ ИССЛЕДОВАНИЯ</a:t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7" name="Google Shape;18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9"/>
          <p:cNvSpPr txBox="1"/>
          <p:nvPr/>
        </p:nvSpPr>
        <p:spPr>
          <a:xfrm>
            <a:off x="571500" y="5567362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Вывод:</a:t>
            </a:r>
            <a:r>
              <a:rPr b="0" i="1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 Политическая культура выступает латентным регулятором макрополитических процессов.</a:t>
            </a: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571500" y="5376862"/>
            <a:ext cx="11049000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СТРУКТУРА ПОЛИТИЧЕСКОЙ КУЛЬТУРЫ</a:t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7" name="Google Shape;19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8" name="Google Shape;19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028825"/>
            <a:ext cx="5334000" cy="737889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0"/>
          <p:cNvSpPr txBox="1"/>
          <p:nvPr/>
        </p:nvSpPr>
        <p:spPr>
          <a:xfrm>
            <a:off x="571500" y="56197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Г. Алмонд и С. Верба: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 Смешанный тип ("Гражданская культура") — баланс участия и лояльности.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571500" y="161925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С. Хантингтон: Порядок и Модернизация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571500" y="2957214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Стабильность зависит от способности институтов абсорбировать активность масс.</a:t>
            </a:r>
            <a:endParaRPr/>
          </a:p>
        </p:txBody>
      </p:sp>
      <p:pic>
        <p:nvPicPr>
          <p:cNvPr descr="image.png" id="202" name="Google Shape;20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2228850"/>
            <a:ext cx="4933950" cy="337839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КЛАССИЧЕСКИЕ КОНЦЕПЦИИ</a:t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82350" y="1092950"/>
            <a:ext cx="4338150" cy="433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0" name="Google Shape;21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074616"/>
            <a:ext cx="1104900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1"/>
          <p:cNvSpPr/>
          <p:nvPr/>
        </p:nvSpPr>
        <p:spPr>
          <a:xfrm>
            <a:off x="571500" y="2495550"/>
            <a:ext cx="11049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3" name="Google Shape;213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4084141"/>
            <a:ext cx="11029950" cy="2362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1672530" y="230505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1286702" y="2693650"/>
            <a:ext cx="1000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Античность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571500" y="3038475"/>
            <a:ext cx="243066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Аристотель: "Политическое животное", общее благо.</a:t>
            </a:r>
            <a:endParaRPr/>
          </a:p>
        </p:txBody>
      </p:sp>
      <p:sp>
        <p:nvSpPr>
          <p:cNvPr id="217" name="Google Shape;217;p21"/>
          <p:cNvSpPr/>
          <p:nvPr/>
        </p:nvSpPr>
        <p:spPr>
          <a:xfrm>
            <a:off x="4545210" y="230505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 txBox="1"/>
          <p:nvPr/>
        </p:nvSpPr>
        <p:spPr>
          <a:xfrm>
            <a:off x="4092773" y="2724150"/>
            <a:ext cx="1133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Средневековье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3444180" y="3038475"/>
            <a:ext cx="243066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Теоцентризм: подданничество и смирение.</a:t>
            </a:r>
            <a:endParaRPr/>
          </a:p>
        </p:txBody>
      </p:sp>
      <p:sp>
        <p:nvSpPr>
          <p:cNvPr id="220" name="Google Shape;220;p21"/>
          <p:cNvSpPr/>
          <p:nvPr/>
        </p:nvSpPr>
        <p:spPr>
          <a:xfrm>
            <a:off x="7417891" y="230505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 txBox="1"/>
          <p:nvPr/>
        </p:nvSpPr>
        <p:spPr>
          <a:xfrm>
            <a:off x="7032128" y="2724150"/>
            <a:ext cx="10001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Возрождение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6316860" y="3038475"/>
            <a:ext cx="243066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Макиавелли: секуляризация и прагматизм.</a:t>
            </a:r>
            <a:endParaRPr/>
          </a:p>
        </p:txBody>
      </p:sp>
      <p:sp>
        <p:nvSpPr>
          <p:cNvPr id="223" name="Google Shape;223;p21"/>
          <p:cNvSpPr/>
          <p:nvPr/>
        </p:nvSpPr>
        <p:spPr>
          <a:xfrm>
            <a:off x="10290571" y="2305050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9933384" y="2724150"/>
            <a:ext cx="9429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Новое время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9189541" y="3038475"/>
            <a:ext cx="243066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Локк, Руссо: общественный договор и права личности.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ЭВОЛЮЦИЯ ПОЛИТИЧЕСКИХ ЦЕННОСТЕЙ</a:t>
            </a:r>
            <a:endParaRPr/>
          </a:p>
        </p:txBody>
      </p:sp>
      <p:sp>
        <p:nvSpPr>
          <p:cNvPr id="227" name="Google Shape;227;p21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2" name="Google Shape;23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2"/>
          <p:cNvSpPr txBox="1"/>
          <p:nvPr/>
        </p:nvSpPr>
        <p:spPr>
          <a:xfrm>
            <a:off x="571500" y="1476375"/>
            <a:ext cx="52006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ПОЛИТИЧЕСКАЯ КУЛЬТУРА РОССИИ</a:t>
            </a:r>
            <a:endParaRPr/>
          </a:p>
        </p:txBody>
      </p:sp>
      <p:pic>
        <p:nvPicPr>
          <p:cNvPr descr="image.png" id="234" name="Google Shape;23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2"/>
          <p:cNvSpPr txBox="1"/>
          <p:nvPr/>
        </p:nvSpPr>
        <p:spPr>
          <a:xfrm>
            <a:off x="571500" y="28670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619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Этатизм: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 Государство как высшая ценность и гарант порядка.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571500" y="36671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Персонификация: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 Зависимость легитимности от личности лидера.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571500" y="44672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Фрагментированность: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 Ценностный раскол общества ("западники" vs "традиционалисты").</a:t>
            </a:r>
            <a:endParaRPr/>
          </a:p>
        </p:txBody>
      </p:sp>
      <p:pic>
        <p:nvPicPr>
          <p:cNvPr descr="image.png" id="238" name="Google Shape;238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919412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71951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519612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5" name="Google Shape;24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00175" y="2647938"/>
            <a:ext cx="9391650" cy="18669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3"/>
          <p:cNvSpPr txBox="1"/>
          <p:nvPr/>
        </p:nvSpPr>
        <p:spPr>
          <a:xfrm>
            <a:off x="4076700" y="2466975"/>
            <a:ext cx="40386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ЦЕЛЬ ДОСТИГНУТА</a:t>
            </a:r>
            <a:endParaRPr/>
          </a:p>
        </p:txBody>
      </p:sp>
      <p:sp>
        <p:nvSpPr>
          <p:cNvPr id="248" name="Google Shape;248;p23"/>
          <p:cNvSpPr txBox="1"/>
          <p:nvPr/>
        </p:nvSpPr>
        <p:spPr>
          <a:xfrm>
            <a:off x="2971800" y="3124200"/>
            <a:ext cx="62484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ЗАДАЧИ РЕШЕНЫ ПОЛНОСТЬЮ</a:t>
            </a:r>
            <a:endParaRPr/>
          </a:p>
        </p:txBody>
      </p:sp>
      <p:sp>
        <p:nvSpPr>
          <p:cNvPr id="249" name="Google Shape;249;p23"/>
          <p:cNvSpPr txBox="1"/>
          <p:nvPr/>
        </p:nvSpPr>
        <p:spPr>
          <a:xfrm>
            <a:off x="1685925" y="3124188"/>
            <a:ext cx="8820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Российская политическая культура — сложный синтез патернализма и новых рационально-субъектных ориентаций. Модернизация требует укрепления институтов для абсорбции активности масс (по Хантингтону).</a:t>
            </a:r>
            <a:endParaRPr/>
          </a:p>
        </p:txBody>
      </p:sp>
      <p:sp>
        <p:nvSpPr>
          <p:cNvPr id="250" name="Google Shape;250;p23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ОБЩИЕ ВЫВОДЫ</a:t>
            </a:r>
            <a:endParaRPr/>
          </a:p>
        </p:txBody>
      </p:sp>
      <p:sp>
        <p:nvSpPr>
          <p:cNvPr id="251" name="Google Shape;251;p23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6" name="Google Shape;25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4"/>
          <p:cNvSpPr txBox="1"/>
          <p:nvPr/>
        </p:nvSpPr>
        <p:spPr>
          <a:xfrm>
            <a:off x="2400538" y="2406765"/>
            <a:ext cx="7390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Спасибо за внимание!</a:t>
            </a:r>
            <a:endParaRPr/>
          </a:p>
        </p:txBody>
      </p:sp>
      <p:sp>
        <p:nvSpPr>
          <p:cNvPr id="258" name="Google Shape;258;p24"/>
          <p:cNvSpPr txBox="1"/>
          <p:nvPr/>
        </p:nvSpPr>
        <p:spPr>
          <a:xfrm>
            <a:off x="4405312" y="3887985"/>
            <a:ext cx="3381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Студент: Кузнецов М.А.</a:t>
            </a:r>
            <a:endParaRPr/>
          </a:p>
        </p:txBody>
      </p:sp>
      <p:sp>
        <p:nvSpPr>
          <p:cNvPr id="259" name="Google Shape;259;p24"/>
          <p:cNvSpPr txBox="1"/>
          <p:nvPr/>
        </p:nvSpPr>
        <p:spPr>
          <a:xfrm>
            <a:off x="4405312" y="4383285"/>
            <a:ext cx="3381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Группа: ИУ7-42Б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