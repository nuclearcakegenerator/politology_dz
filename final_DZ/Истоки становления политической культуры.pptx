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erriweather" panose="00000500000000000000" pitchFamily="2" charset="-52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3E7FEC-D317-42FB-99C8-A997A97093D4}">
  <a:tblStyle styleId="{1C3E7FEC-D317-42FB-99C8-A997A97093D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81425" y="4857601"/>
            <a:ext cx="46291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995862" y="1962298"/>
            <a:ext cx="22002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МГТУ ИМ. Н.Э. БАУМАНА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568824" y="2358479"/>
            <a:ext cx="905435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Истоки</a:t>
            </a:r>
            <a:r>
              <a:rPr lang="en-US" sz="4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становления</a:t>
            </a:r>
            <a:r>
              <a:rPr lang="en-US" sz="4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политической</a:t>
            </a:r>
            <a:r>
              <a:rPr lang="en-US" sz="4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культуры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638675" y="3828901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4AF37"/>
                </a:solidFill>
                <a:latin typeface="Roboto"/>
                <a:ea typeface="Roboto"/>
                <a:cs typeface="Roboto"/>
                <a:sym typeface="Roboto"/>
              </a:rPr>
              <a:t>Дисциплина</a:t>
            </a:r>
            <a:r>
              <a:rPr lang="en-US" sz="1800" b="1" i="0" u="none" strike="noStrike" cap="none" dirty="0">
                <a:solidFill>
                  <a:srgbClr val="D4AF37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800" b="1" i="0" u="none" strike="noStrike" cap="none" dirty="0" err="1">
                <a:solidFill>
                  <a:srgbClr val="D4AF37"/>
                </a:solidFill>
                <a:latin typeface="Roboto"/>
                <a:ea typeface="Roboto"/>
                <a:cs typeface="Roboto"/>
                <a:sym typeface="Roboto"/>
              </a:rPr>
              <a:t>Политология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3323550" y="5152875"/>
            <a:ext cx="281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Выполнил студент: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Кузнецов М.А.,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гр. ИУ7-42Б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248400" y="5152876"/>
            <a:ext cx="21621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Проверил преподаватель: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Харичкин И.К.</a:t>
            </a:r>
            <a:endParaRPr/>
          </a:p>
        </p:txBody>
      </p:sp>
      <p:pic>
        <p:nvPicPr>
          <p:cNvPr id="91" name="Google Shape;91;p13" title="BMSTU_coat_of_arm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0676" y="442343"/>
            <a:ext cx="1190625" cy="1367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p14"/>
          <p:cNvGraphicFramePr/>
          <p:nvPr>
            <p:extLst>
              <p:ext uri="{D42A27DB-BD31-4B8C-83A1-F6EECF244321}">
                <p14:modId xmlns:p14="http://schemas.microsoft.com/office/powerpoint/2010/main" val="3367857272"/>
              </p:ext>
            </p:extLst>
          </p:nvPr>
        </p:nvGraphicFramePr>
        <p:xfrm>
          <a:off x="571500" y="2071687"/>
          <a:ext cx="11049000" cy="3590875"/>
        </p:xfrm>
        <a:graphic>
          <a:graphicData uri="http://schemas.openxmlformats.org/drawingml/2006/table">
            <a:tbl>
              <a:tblPr firstRow="1" bandRow="1">
                <a:noFill/>
                <a:tableStyleId>{1C3E7FEC-D317-42FB-99C8-A997A97093D4}</a:tableStyleId>
              </a:tblPr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Раздел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Наименование главы / параграфа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Введение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Актуальность, цель, задачи исследования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Глава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Теоретико-методологические основы исследования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Глава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Исторические истоки и эволюция культуры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Заключение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Основные выводы и результаты исследования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500" b="0" i="0" u="none" strike="noStrike" cap="none" dirty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Источники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Библиографический</a:t>
                      </a:r>
                      <a:r>
                        <a:rPr lang="en-US" sz="1500" b="0" i="0" u="none" strike="noStrike" cap="none" dirty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список</a:t>
                      </a:r>
                      <a:r>
                        <a:rPr lang="en-US" sz="1500" b="0" i="0" u="none" strike="noStrike" cap="none" dirty="0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500" b="0" i="0" u="none" strike="noStrike" cap="none" dirty="0" err="1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источников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8" name="Google Shape;98;p14"/>
          <p:cNvSpPr/>
          <p:nvPr/>
        </p:nvSpPr>
        <p:spPr>
          <a:xfrm>
            <a:off x="571500" y="3248025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2228850" y="3248025"/>
            <a:ext cx="939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71500" y="3848100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2228850" y="3848100"/>
            <a:ext cx="939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571500" y="4448175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2228850" y="4448175"/>
            <a:ext cx="939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71500" y="5048250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2228850" y="5048250"/>
            <a:ext cx="939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71500" y="5648325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2228850" y="5648325"/>
            <a:ext cx="939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СОДЕРЖАНИЕ РАБОТЫ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47875"/>
            <a:ext cx="3492549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47875"/>
            <a:ext cx="3492549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47875"/>
            <a:ext cx="3492549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84225" y="2221600"/>
            <a:ext cx="3067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Устойчивость институтов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57300" y="2667000"/>
            <a:ext cx="29211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Политическая культура определяет прочность государственных структур и характер взаимодействия власти и общества.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562524" y="2221600"/>
            <a:ext cx="3067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Глобальные вызовы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35549" y="2667000"/>
            <a:ext cx="29211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Трансформация мирового порядка требует глубокого понимания ценностных истоков политического процесса.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340724" y="2230388"/>
            <a:ext cx="3067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Российская идентичность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13749" y="2667000"/>
            <a:ext cx="29211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Необходимость сочетания национальных традиций с вызовами современной политической модернизации.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АКТУАЛЬНОСТЬ ТЕМЫ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9800"/>
            <a:ext cx="533400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209800"/>
            <a:ext cx="53340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57250" y="308610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Объект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57250" y="3790950"/>
            <a:ext cx="4762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Политическая культура как социокультурное явление и ключевой элемент политической системы, определяющий ценностную основу деятельности.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72250" y="308610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Предмет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572250" y="3790950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Теоретико-методологические основания, факторы и механизмы формирования политической культуры в исторической ретроспективе.</a:t>
            </a:r>
            <a:endParaRPr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5146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72250" y="25146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ОБЪЕКТ И ПРЕДМЕТ ИССЛЕДОВАНИЯ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39566"/>
            <a:ext cx="1981200" cy="1636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38450" y="3439566"/>
            <a:ext cx="1981200" cy="1636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05400" y="3439566"/>
            <a:ext cx="1981200" cy="1636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72350" y="3439566"/>
            <a:ext cx="1981200" cy="1636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39300" y="3439566"/>
            <a:ext cx="1981200" cy="163621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71500" y="2849016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ЦЕЛЬ: Комплексный анализ истоков становления и специфики политической культуры.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62000" y="3630066"/>
            <a:ext cx="6572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Задача 1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62000" y="3963441"/>
            <a:ext cx="1600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Изучить понятие, структуру и функции в современной науке.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3028950" y="3630066"/>
            <a:ext cx="6572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Задача 2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3028950" y="3963441"/>
            <a:ext cx="1600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Анализ концепций Алмонда, Вербы и Хантингтона.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295900" y="3630066"/>
            <a:ext cx="6572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Задача 3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295900" y="3963441"/>
            <a:ext cx="1600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Рассмотреть исторические истоки от Античности.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562850" y="3630066"/>
            <a:ext cx="6572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Задача 4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562850" y="3963441"/>
            <a:ext cx="1600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Выявить институты и факторы социализации.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829800" y="3630066"/>
            <a:ext cx="6572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Задача 5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829800" y="3963441"/>
            <a:ext cx="1600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Исследовать особенности культуры России.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ЦЕЛЬ И ЗАДАЧИ ИССЛЕДОВАНИЯ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2675"/>
            <a:ext cx="34925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52675"/>
            <a:ext cx="34925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52675"/>
            <a:ext cx="3492549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857250" y="3228975"/>
            <a:ext cx="306710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Историко-генетический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57250" y="393382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Прослеживание эволюции идей от Древней Греции до наших дней.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4635549" y="3228975"/>
            <a:ext cx="306710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Компаративный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635549" y="393382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Сопоставление различных моделей и типов политических систем.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413849" y="3228975"/>
            <a:ext cx="306710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Структурно-функциональный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413849" y="395287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Анализ элементов культуры и их роли в поддержании устойчивости.</a:t>
            </a:r>
            <a:endParaRPr/>
          </a:p>
        </p:txBody>
      </p:sp>
      <p:pic>
        <p:nvPicPr>
          <p:cNvPr id="178" name="Google Shape;17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6574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5549" y="26574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3849" y="26574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МЕТОДЫ ИССЛЕДОВАНИЯ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71500" y="556736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Вывод:</a:t>
            </a:r>
            <a:r>
              <a:rPr lang="en-US" sz="1500" b="0" i="1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Политическая культура выступает латентным регулятором макрополитических процессов.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" y="5376862"/>
            <a:ext cx="11049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СТРУКТУРА ПОЛИТИЧЕСКОЙ КУЛЬТУРЫ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8825"/>
            <a:ext cx="5334000" cy="73788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71500" y="56197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Г. Алмонд и С. Верба: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Смешанный тип ("Гражданская культура") — баланс участия и лояльности.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571500" y="16192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С. Хантингтон: Порядок и Модернизация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2957214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Стабильность зависит от способности институтов абсорбировать активность масс.</a:t>
            </a:r>
            <a:endParaRPr/>
          </a:p>
        </p:txBody>
      </p:sp>
      <p:pic>
        <p:nvPicPr>
          <p:cNvPr id="202" name="Google Shape;20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228850"/>
            <a:ext cx="4933950" cy="33783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КЛАССИЧЕСКИЕ КОНЦЕПЦИИ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82350" y="1092950"/>
            <a:ext cx="4338150" cy="43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74616"/>
            <a:ext cx="11049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/>
          <p:nvPr/>
        </p:nvSpPr>
        <p:spPr>
          <a:xfrm>
            <a:off x="571500" y="2495550"/>
            <a:ext cx="11049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084141"/>
            <a:ext cx="110299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1672530" y="23050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1286702" y="2693650"/>
            <a:ext cx="100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Античность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571500" y="3038475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Аристотель: "Политическое животное", общее благо.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4545210" y="23050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092773" y="2724150"/>
            <a:ext cx="11334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Средневековье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3444180" y="3038475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Теоцентризм: подданничество и смирение.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7417891" y="23050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7032128" y="2724150"/>
            <a:ext cx="10001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Возрождение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316860" y="3038475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Макиавелли: секуляризация и прагматизм.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10290571" y="23050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9933384" y="2724150"/>
            <a:ext cx="9429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Новое время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9189541" y="3038475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Локк, Руссо: общественный договор и права личности.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ЭВОЛЮЦИЯ ПОЛИТИЧЕСКИХ ЦЕННОСТЕЙ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571500" y="1476375"/>
            <a:ext cx="52006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ПОЛИТИЧЕСКАЯ КУЛЬТУРА РОССИИ</a:t>
            </a:r>
            <a:endParaRPr/>
          </a:p>
        </p:txBody>
      </p:sp>
      <p:pic>
        <p:nvPicPr>
          <p:cNvPr id="234" name="Google Shape;23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571500" y="28670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Этатизм: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Государство как высшая ценность и гарант порядка.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71500" y="36671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Персонификация: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Зависимость легитимности от личности лидера.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571500" y="44672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Фрагментированность: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Ценностный раскол общества ("западники" vs "традиционалисты").</a:t>
            </a:r>
            <a:endParaRPr/>
          </a:p>
        </p:txBody>
      </p:sp>
      <p:pic>
        <p:nvPicPr>
          <p:cNvPr id="238" name="Google Shape;23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194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195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1961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0175" y="2647938"/>
            <a:ext cx="939165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4076700" y="2466975"/>
            <a:ext cx="403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ЦЕЛЬ ДОСТИГНУТА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2971800" y="3124200"/>
            <a:ext cx="62484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ЗАДАЧИ РЕШЕНЫ ПОЛНОСТЬЮ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1685925" y="3124188"/>
            <a:ext cx="8820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Российская политическая культура — сложный синтез патернализма и новых рационально-субъектных ориентаций. Модернизация требует укрепления институтов для абсорбции активности масс (по Хантингтону).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ОБЩИЕ ВЫВОДЫ</a:t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2400538" y="2406765"/>
            <a:ext cx="7390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Спасибо за внимание!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4405312" y="3887985"/>
            <a:ext cx="3381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Студент: Кузнецов М.А.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4405312" y="4383285"/>
            <a:ext cx="3381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Группа: ИУ7-42Б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Широкоэкранный</PresentationFormat>
  <Paragraphs>76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Roboto</vt:lpstr>
      <vt:lpstr>Arial</vt:lpstr>
      <vt:lpstr>Merriweather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Максим Кузнецов</cp:lastModifiedBy>
  <cp:revision>2</cp:revision>
  <dcterms:modified xsi:type="dcterms:W3CDTF">2026-05-17T20:43:58Z</dcterms:modified>
</cp:coreProperties>
</file>